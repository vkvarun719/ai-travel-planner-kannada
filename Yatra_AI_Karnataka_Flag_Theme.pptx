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109728"/>
          </a:xfrm>
          <a:prstGeom prst="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609539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390" y="6784848"/>
            <a:ext cx="6096304" cy="73152"/>
          </a:xfrm>
          <a:prstGeom prst="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728655" cy="2011680"/>
          </a:xfrm>
          <a:prstGeom prst="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C8102E"/>
                </a:solidFill>
              </a:defRPr>
            </a:pPr>
            <a:r>
              <a:t>🏆 KANNADA HACKATHON · PROBLEM STATEMENT 6</a:t>
            </a:r>
          </a:p>
          <a:p>
            <a:pPr>
              <a:defRPr sz="3000" b="1">
                <a:solidFill>
                  <a:srgbClr val="1A1613"/>
                </a:solidFill>
              </a:defRPr>
            </a:pPr>
            <a:r>
              <a:rPr lang="en-US"/>
              <a:t>                     </a:t>
            </a:r>
            <a:r>
              <a:t> Yatra AI: Discover Karnataka Like a Local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10728655" cy="15544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Hyper-Local AI Travel Planner with Ghat Routes, ASI Timings, Stays &amp; Iconic Regional Dining</a:t>
            </a:r>
          </a:p>
          <a:p>
            <a:pPr>
              <a:defRPr sz="1300">
                <a:solidFill>
                  <a:srgbClr val="FFEBEB"/>
                </a:solidFill>
              </a:defRPr>
            </a:pPr>
            <a:r>
              <a:t>Personalized Karnataka itineraries based on interests, available time, budget &amp; authentic cultural experiences.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72865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82880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C8102E"/>
                </a:solidFill>
              </a:defRPr>
            </a:pPr>
            <a:r>
              <a:t>LIVE DEPLOYMENT &amp; OPEN SOURCE LINKS:</a:t>
            </a:r>
          </a:p>
          <a:p>
            <a:pPr>
              <a:defRPr sz="1200" b="1">
                <a:solidFill>
                  <a:srgbClr val="1A1613"/>
                </a:solidFill>
              </a:defRPr>
            </a:pPr>
            <a:r>
              <a:t>🌐 Live Application (Vercel):  https://ai-travel-planner-kannada.vercel.app</a:t>
            </a:r>
            <a:br/>
            <a:r>
              <a:t>⚡ Production API (Render):    https://ai-travel-planner-kannada.onrender.com</a:t>
            </a:r>
            <a:br/>
            <a:r>
              <a:t>💻 GitHub Repository:           https://github.com/vkvarun719/AI-TRAVEL-PLANNER-KANNADA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109728"/>
          </a:xfrm>
          <a:prstGeom prst="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609539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390" y="6784848"/>
            <a:ext cx="6096304" cy="73152"/>
          </a:xfrm>
          <a:prstGeom prst="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47472"/>
            <a:ext cx="4389120" cy="320040"/>
          </a:xfrm>
          <a:prstGeom prst="round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 b="1">
                <a:solidFill>
                  <a:srgbClr val="1A1613"/>
                </a:solidFill>
              </a:defRPr>
            </a:pPr>
            <a:r>
              <a:t>★  KANNADA HACKATHON · PROBLEM STATEMENT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C8102E"/>
                </a:solidFill>
              </a:defRPr>
            </a:pPr>
            <a:r>
              <a:t>Problem Statement: Why Karnataka Needs a Dedicated AI Planner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20040" rIns="274320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C8102E"/>
                </a:solidFill>
              </a:defRPr>
            </a:pPr>
            <a:r>
              <a:t>THE CHOSEN PROBLEM</a:t>
            </a:r>
          </a:p>
          <a:p>
            <a:pPr>
              <a:spcAft>
                <a:spcPts val="1400"/>
              </a:spcAft>
              <a:defRPr sz="1600" b="1">
                <a:solidFill>
                  <a:srgbClr val="1A1613"/>
                </a:solidFill>
              </a:defRPr>
            </a:pPr>
            <a:r>
              <a:t>Problem Statement 6: AI Travel Planner for Karnataka</a:t>
            </a:r>
          </a:p>
          <a:p>
            <a:pPr>
              <a:defRPr sz="1300">
                <a:solidFill>
                  <a:srgbClr val="5F5A55"/>
                </a:solidFill>
              </a:defRPr>
            </a:pPr>
            <a:r>
              <a:t>Creating tailored itineraries dynamically taking into account user time, budget, starting point, and authentic regional travel style.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3383280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20040" rIns="274320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F5AF0F"/>
                </a:solidFill>
              </a:defRPr>
            </a:pPr>
            <a:r>
              <a:t>WHO IS AFFECTED?</a:t>
            </a:r>
          </a:p>
          <a:p>
            <a:pPr>
              <a:spcAft>
                <a:spcPts val="1400"/>
              </a:spcAft>
              <a:defRPr sz="1600" b="1">
                <a:solidFill>
                  <a:srgbClr val="1A1613"/>
                </a:solidFill>
              </a:defRPr>
            </a:pPr>
            <a:r>
              <a:t>Tourists, Bikers &amp; Weekend Explorers</a:t>
            </a:r>
          </a:p>
          <a:p>
            <a:pPr>
              <a:defRPr sz="1300">
                <a:solidFill>
                  <a:srgbClr val="5F5A55"/>
                </a:solidFill>
              </a:defRPr>
            </a:pPr>
            <a:r>
              <a:t>• Domestic &amp; international heritage seekers.</a:t>
            </a:r>
            <a:br/>
            <a:r>
              <a:t>• Road-trippers &amp; motorcycle enthusiasts navigating Western Ghats passes.</a:t>
            </a:r>
            <a:br/>
            <a:r>
              <a:t>• Solo explorers needing seasonal safety &amp; local food advice.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645920"/>
            <a:ext cx="3383280" cy="137160"/>
          </a:xfrm>
          <a:prstGeom prst="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20040" rIns="274320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C8102E"/>
                </a:solidFill>
              </a:defRPr>
            </a:pPr>
            <a:r>
              <a:t>WHY IT MATTERS</a:t>
            </a:r>
          </a:p>
          <a:p>
            <a:pPr>
              <a:spcAft>
                <a:spcPts val="1400"/>
              </a:spcAft>
              <a:defRPr sz="1600" b="1">
                <a:solidFill>
                  <a:srgbClr val="1A1613"/>
                </a:solidFill>
              </a:defRPr>
            </a:pPr>
            <a:r>
              <a:t>Vast Regional Nuance Across Districts</a:t>
            </a:r>
          </a:p>
          <a:p>
            <a:pPr>
              <a:defRPr sz="1300">
                <a:solidFill>
                  <a:srgbClr val="5F5A55"/>
                </a:solidFill>
              </a:defRPr>
            </a:pPr>
            <a:r>
              <a:t>Karnataka encompasses boulder ruins in Hampi, dense rainforests in Agumbe &amp; Coorg, and coastal Gokarna. Generic planners fail to account for real local conditions.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383280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109728"/>
          </a:xfrm>
          <a:prstGeom prst="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609539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390" y="6784848"/>
            <a:ext cx="6096304" cy="73152"/>
          </a:xfrm>
          <a:prstGeom prst="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47472"/>
            <a:ext cx="4389120" cy="320040"/>
          </a:xfrm>
          <a:prstGeom prst="round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 b="1">
                <a:solidFill>
                  <a:srgbClr val="1A1613"/>
                </a:solidFill>
              </a:defRPr>
            </a:pPr>
            <a:r>
              <a:t>★  KANNADA HACKATHON · PROBLEM STATEMENT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C8102E"/>
                </a:solidFill>
              </a:defRPr>
            </a:pPr>
            <a:r>
              <a:t>Existing Systems &amp; Critical Real-World Gaps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1A1613"/>
                </a:solidFill>
              </a:defRPr>
            </a:pPr>
            <a:r>
              <a:t>1. Zero Road &amp; Monsoon Safety Nuance</a:t>
            </a:r>
          </a:p>
          <a:p>
            <a:pPr>
              <a:defRPr sz="1200">
                <a:solidFill>
                  <a:srgbClr val="5F5A55"/>
                </a:solidFill>
              </a:defRPr>
            </a:pPr>
            <a:r>
              <a:t>Generic planners blindly route travelers through Bandipur after 9:00 PM (when roads are legally locked down for tiger preservation) or recommend flooded Western Ghats trails during active monsoon landslides.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109728" cy="20116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212080" cy="2011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5A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1A1613"/>
                </a:solidFill>
              </a:defRPr>
            </a:pPr>
            <a:r>
              <a:t>2. Commercial Buffets &amp; Tourist Traps</a:t>
            </a:r>
          </a:p>
          <a:p>
            <a:pPr>
              <a:defRPr sz="1200">
                <a:solidFill>
                  <a:srgbClr val="5F5A55"/>
                </a:solidFill>
              </a:defRPr>
            </a:pPr>
            <a:r>
              <a:t>Existing platforms recommend generic chain restaurants instead of Karnataka's legendary GI-tagged institutions (MTR, Vinayaka Mylari, Shetty Lunch Home, Mitra Samaj).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645920"/>
            <a:ext cx="109728" cy="2011680"/>
          </a:xfrm>
          <a:prstGeom prst="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1A1613"/>
                </a:solidFill>
              </a:defRPr>
            </a:pPr>
            <a:r>
              <a:t>3. Rigid &amp; Impractical Timing Schedules</a:t>
            </a:r>
          </a:p>
          <a:p>
            <a:pPr>
              <a:defRPr sz="1200">
                <a:solidFill>
                  <a:srgbClr val="5F5A55"/>
                </a:solidFill>
              </a:defRPr>
            </a:pPr>
            <a:r>
              <a:t>Fail to account for ASI monument timings (Hampi 6AM-6PM, Virupaksha afternoon break), temple dress codes, or manual Tungabhadra coracle river crossings.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109728" cy="20116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3931920"/>
            <a:ext cx="5212080" cy="2011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5A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1A1613"/>
                </a:solidFill>
              </a:defRPr>
            </a:pPr>
            <a:r>
              <a:t>4. Fragmented User Experience</a:t>
            </a:r>
          </a:p>
          <a:p>
            <a:pPr>
              <a:defRPr sz="1200">
                <a:solidFill>
                  <a:srgbClr val="5F5A55"/>
                </a:solidFill>
              </a:defRPr>
            </a:pPr>
            <a:r>
              <a:t>Users are forced to juggle between blogs for inspiration, Google Maps for distances, and spreadsheets for budget estimates with zero local language assistance.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931920"/>
            <a:ext cx="109728" cy="2011680"/>
          </a:xfrm>
          <a:prstGeom prst="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109728"/>
          </a:xfrm>
          <a:prstGeom prst="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609539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390" y="6784848"/>
            <a:ext cx="6096304" cy="73152"/>
          </a:xfrm>
          <a:prstGeom prst="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47472"/>
            <a:ext cx="4389120" cy="320040"/>
          </a:xfrm>
          <a:prstGeom prst="round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 b="1">
                <a:solidFill>
                  <a:srgbClr val="1A1613"/>
                </a:solidFill>
              </a:defRPr>
            </a:pPr>
            <a:r>
              <a:t>★  KANNADA HACKATHON · PROBLEM STATEMENT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C8102E"/>
                </a:solidFill>
              </a:defRPr>
            </a:pPr>
            <a:r>
              <a:t>How Yatra AI Is Different: Kannada-Centric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560320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C8102E"/>
                </a:solidFill>
              </a:defRPr>
            </a:pPr>
            <a:r>
              <a:t>DOMAIN INTELLIGENCE</a:t>
            </a:r>
          </a:p>
          <a:p>
            <a:pPr>
              <a:defRPr sz="1000" b="1">
                <a:solidFill>
                  <a:srgbClr val="5F5A55"/>
                </a:solidFill>
              </a:defRPr>
            </a:pPr>
            <a:r>
              <a:t>Traditional Planners:</a:t>
            </a:r>
          </a:p>
          <a:p>
            <a:pPr>
              <a:spcAft>
                <a:spcPts val="1400"/>
              </a:spcAft>
              <a:defRPr sz="1100">
                <a:solidFill>
                  <a:srgbClr val="5F5A55"/>
                </a:solidFill>
              </a:defRPr>
            </a:pPr>
            <a:r>
              <a:t>Generic travel blogs.</a:t>
            </a:r>
          </a:p>
          <a:p>
            <a:pPr>
              <a:defRPr sz="1100" b="1">
                <a:solidFill>
                  <a:srgbClr val="C8102E"/>
                </a:solidFill>
              </a:defRPr>
            </a:pPr>
            <a:r>
              <a:t>Yatra AI Advantage:</a:t>
            </a:r>
          </a:p>
          <a:p>
            <a:pPr>
              <a:defRPr sz="1100">
                <a:solidFill>
                  <a:srgbClr val="1A1613"/>
                </a:solidFill>
              </a:defRPr>
            </a:pPr>
            <a:r>
              <a:t>Engineered prompt with NH-75 ghats, SH-17 biker curves, ASI temple hours &amp; monsoon landslide warnings.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45920"/>
            <a:ext cx="2560320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5A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F5AF0F"/>
                </a:solidFill>
              </a:defRPr>
            </a:pPr>
            <a:r>
              <a:t>CURATED CULINARY SPOTS</a:t>
            </a:r>
          </a:p>
          <a:p>
            <a:pPr>
              <a:defRPr sz="1000" b="1">
                <a:solidFill>
                  <a:srgbClr val="5F5A55"/>
                </a:solidFill>
              </a:defRPr>
            </a:pPr>
            <a:r>
              <a:t>Traditional Planners:</a:t>
            </a:r>
          </a:p>
          <a:p>
            <a:pPr>
              <a:spcAft>
                <a:spcPts val="1400"/>
              </a:spcAft>
              <a:defRPr sz="1100">
                <a:solidFill>
                  <a:srgbClr val="5F5A55"/>
                </a:solidFill>
              </a:defRPr>
            </a:pPr>
            <a:r>
              <a:t>Hotel buffet chains.</a:t>
            </a:r>
          </a:p>
          <a:p>
            <a:pPr>
              <a:defRPr sz="1100" b="1">
                <a:solidFill>
                  <a:srgbClr val="C8102E"/>
                </a:solidFill>
              </a:defRPr>
            </a:pPr>
            <a:r>
              <a:t>Yatra AI Advantage:</a:t>
            </a:r>
          </a:p>
          <a:p>
            <a:pPr>
              <a:defRPr sz="1100">
                <a:solidFill>
                  <a:srgbClr val="1A1613"/>
                </a:solidFill>
              </a:defRPr>
            </a:pPr>
            <a:r>
              <a:t>Recommends specific must-order dishes: Coorg Pandi Curry, Mangaluru Kori Rotti, Udupi Goli Baje, Dharwad Pedha.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60320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C8102E"/>
                </a:solidFill>
              </a:defRPr>
            </a:pPr>
            <a:r>
              <a:t>DYNAMIC BUDGET ENGINE</a:t>
            </a:r>
          </a:p>
          <a:p>
            <a:pPr>
              <a:defRPr sz="1000" b="1">
                <a:solidFill>
                  <a:srgbClr val="5F5A55"/>
                </a:solidFill>
              </a:defRPr>
            </a:pPr>
            <a:r>
              <a:t>Traditional Planners:</a:t>
            </a:r>
          </a:p>
          <a:p>
            <a:pPr>
              <a:spcAft>
                <a:spcPts val="1400"/>
              </a:spcAft>
              <a:defRPr sz="1100">
                <a:solidFill>
                  <a:srgbClr val="5F5A55"/>
                </a:solidFill>
              </a:defRPr>
            </a:pPr>
            <a:r>
              <a:t>Single lump-sum guess.</a:t>
            </a:r>
          </a:p>
          <a:p>
            <a:pPr>
              <a:defRPr sz="1100" b="1">
                <a:solidFill>
                  <a:srgbClr val="C8102E"/>
                </a:solidFill>
              </a:defRPr>
            </a:pPr>
            <a:r>
              <a:t>Yatra AI Advantage:</a:t>
            </a:r>
          </a:p>
          <a:p>
            <a:pPr>
              <a:defRPr sz="1100">
                <a:solidFill>
                  <a:srgbClr val="1A1613"/>
                </a:solidFill>
              </a:defRPr>
            </a:pPr>
            <a:r>
              <a:t>Live switcher between Budget, Mid-Range &amp; Luxury with dynamic stay, food &amp; permit percentage allocations.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645920"/>
            <a:ext cx="2560320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5A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F5AF0F"/>
                </a:solidFill>
              </a:defRPr>
            </a:pPr>
            <a:r>
              <a:t>LANGUAGE COMPANION</a:t>
            </a:r>
          </a:p>
          <a:p>
            <a:pPr>
              <a:defRPr sz="1000" b="1">
                <a:solidFill>
                  <a:srgbClr val="5F5A55"/>
                </a:solidFill>
              </a:defRPr>
            </a:pPr>
            <a:r>
              <a:t>Traditional Planners:</a:t>
            </a:r>
          </a:p>
          <a:p>
            <a:pPr>
              <a:spcAft>
                <a:spcPts val="1400"/>
              </a:spcAft>
              <a:defRPr sz="1100">
                <a:solidFill>
                  <a:srgbClr val="5F5A55"/>
                </a:solidFill>
              </a:defRPr>
            </a:pPr>
            <a:r>
              <a:t>Zero linguistic help.</a:t>
            </a:r>
          </a:p>
          <a:p>
            <a:pPr>
              <a:defRPr sz="1100" b="1">
                <a:solidFill>
                  <a:srgbClr val="C8102E"/>
                </a:solidFill>
              </a:defRPr>
            </a:pPr>
            <a:r>
              <a:t>Yatra AI Advantage:</a:t>
            </a:r>
          </a:p>
          <a:p>
            <a:pPr>
              <a:defRPr sz="1100">
                <a:solidFill>
                  <a:srgbClr val="1A1613"/>
                </a:solidFill>
              </a:defRPr>
            </a:pPr>
            <a:r>
              <a:t>Built-in Kannada phrasebook with script, phonetics, English translation, audio-copy tool, and temple etiquette.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109728"/>
          </a:xfrm>
          <a:prstGeom prst="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609539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390" y="6784848"/>
            <a:ext cx="6096304" cy="73152"/>
          </a:xfrm>
          <a:prstGeom prst="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47472"/>
            <a:ext cx="4389120" cy="320040"/>
          </a:xfrm>
          <a:prstGeom prst="round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 b="1">
                <a:solidFill>
                  <a:srgbClr val="1A1613"/>
                </a:solidFill>
              </a:defRPr>
            </a:pPr>
            <a:r>
              <a:t>★  KANNADA HACKATHON · PROBLEM STATEMENT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C8102E"/>
                </a:solidFill>
              </a:defRPr>
            </a:pPr>
            <a:r>
              <a:t>Methodology: End-to-End Execution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6984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37160" rIns="274320" rtlCol="0" anchor="ctr"/>
          <a:lstStyle/>
          <a:p>
            <a:pPr algn="ctr">
              <a:defRPr sz="1400" b="1">
                <a:solidFill>
                  <a:srgbClr val="C8102E"/>
                </a:solidFill>
              </a:defRPr>
            </a:pPr>
            <a:r>
              <a:t>Step 1: User Parameter Intake</a:t>
            </a:r>
          </a:p>
          <a:p>
            <a:pPr>
              <a:defRPr sz="1200">
                <a:solidFill>
                  <a:srgbClr val="1A1613"/>
                </a:solidFill>
              </a:defRPr>
            </a:pPr>
            <a:r>
              <a:t>Captures origin hub (Bangalore, Mysore, Hampi, etc.), duration (1-14 days), budget tier, and custom interest chips (Western Ghats, Heritage, Motorcycle, Food).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109728" cy="9601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106984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A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37160" rIns="274320" rtlCol="0" anchor="ctr"/>
          <a:lstStyle/>
          <a:p>
            <a:pPr algn="ctr">
              <a:defRPr sz="1400" b="1">
                <a:solidFill>
                  <a:srgbClr val="F5AF0F"/>
                </a:solidFill>
              </a:defRPr>
            </a:pPr>
            <a:r>
              <a:t>Step 2: Contextual AI Prompting</a:t>
            </a:r>
          </a:p>
          <a:p>
            <a:pPr>
              <a:defRPr sz="1200">
                <a:solidFill>
                  <a:srgbClr val="1A1613"/>
                </a:solidFill>
              </a:defRPr>
            </a:pPr>
            <a:r>
              <a:t>Injects 20+ years of Karnataka highway and district intelligence into Gemini 3 Flash, enforcing strict JSON output containing hotel stays, spots &amp; food.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88920"/>
            <a:ext cx="109728" cy="960120"/>
          </a:xfrm>
          <a:prstGeom prst="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6984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37160" rIns="274320" rtlCol="0" anchor="ctr"/>
          <a:lstStyle/>
          <a:p>
            <a:pPr algn="ctr">
              <a:defRPr sz="1400" b="1">
                <a:solidFill>
                  <a:srgbClr val="C8102E"/>
                </a:solidFill>
              </a:defRPr>
            </a:pPr>
            <a:r>
              <a:t>Step 3: Lightweight Async Processing</a:t>
            </a:r>
          </a:p>
          <a:p>
            <a:pPr>
              <a:defRPr sz="1200">
                <a:solidFill>
                  <a:srgbClr val="1A1613"/>
                </a:solidFill>
              </a:defRPr>
            </a:pPr>
            <a:r>
              <a:t>FastAPI validates requests using Pydantic, calls Gemini via asynchronous non-blocking HTTP pipelines, keeping local RAM usage under 30MB.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109728" cy="9601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5074920"/>
            <a:ext cx="106984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A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37160" rIns="274320" rtlCol="0" anchor="ctr"/>
          <a:lstStyle/>
          <a:p>
            <a:pPr algn="ctr">
              <a:defRPr sz="1400" b="1">
                <a:solidFill>
                  <a:srgbClr val="F5AF0F"/>
                </a:solidFill>
              </a:defRPr>
            </a:pPr>
            <a:r>
              <a:t>Step 4: Interactive Dashboard Display</a:t>
            </a:r>
          </a:p>
          <a:p>
            <a:pPr>
              <a:defRPr sz="1200">
                <a:solidFill>
                  <a:srgbClr val="1A1613"/>
                </a:solidFill>
              </a:defRPr>
            </a:pPr>
            <a:r>
              <a:t>Renders a responsive two-column view: sticky sidebar with transit route map and budget donut, paired with daily photo thumbnails and Kannada companion.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074920"/>
            <a:ext cx="109728" cy="960120"/>
          </a:xfrm>
          <a:prstGeom prst="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109728"/>
          </a:xfrm>
          <a:prstGeom prst="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609539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390" y="6784848"/>
            <a:ext cx="6096304" cy="73152"/>
          </a:xfrm>
          <a:prstGeom prst="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47472"/>
            <a:ext cx="4389120" cy="320040"/>
          </a:xfrm>
          <a:prstGeom prst="round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 b="1">
                <a:solidFill>
                  <a:srgbClr val="1A1613"/>
                </a:solidFill>
              </a:defRPr>
            </a:pPr>
            <a:r>
              <a:t>★  KANNADA HACKATHON · PROBLEM STATEMENT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C8102E"/>
                </a:solidFill>
              </a:defRPr>
            </a:pPr>
            <a:r>
              <a:t>Tech Stack &amp; System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411480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C8102E"/>
                </a:solidFill>
              </a:defRPr>
            </a:pPr>
            <a:r>
              <a:t>CORE TECHNOLOGIES</a:t>
            </a:r>
          </a:p>
          <a:p>
            <a:pPr>
              <a:defRPr sz="1200">
                <a:solidFill>
                  <a:srgbClr val="1A1613"/>
                </a:solidFill>
              </a:defRPr>
            </a:pPr>
            <a:r>
              <a:t>• Frontend:</a:t>
            </a:r>
            <a:br/>
            <a:r>
              <a:t>  React 18 + Vite + Tailwind CSS + Lucide Icons</a:t>
            </a:r>
            <a:br/>
            <a:r>
              <a:t>  (Hosted on Vercel Edge Network)</a:t>
            </a:r>
            <a:br/>
            <a:br/>
            <a:r>
              <a:t>• Backend:</a:t>
            </a:r>
            <a:br/>
            <a:r>
              <a:t>  FastAPI (Python) + Async HTTPX Engine</a:t>
            </a:r>
            <a:br/>
            <a:r>
              <a:t>  (Hosted on Render Cloud)</a:t>
            </a:r>
            <a:br/>
            <a:br/>
            <a:r>
              <a:t>• AI Model:</a:t>
            </a:r>
            <a:br/>
            <a:r>
              <a:t>  Google Gemini 3 Flash REST Engine</a:t>
            </a:r>
            <a:br/>
            <a:r>
              <a:t>  (Zero heavy Rust/compile dependencies)</a:t>
            </a:r>
            <a:br/>
            <a:br/>
            <a:r>
              <a:t>• Design Philosophy:</a:t>
            </a:r>
            <a:br/>
            <a:r>
              <a:t>  All heavy cognitive load offloaded to API; 100% lightweight local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645920"/>
            <a:ext cx="630936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C8102E"/>
                </a:solidFill>
              </a:defRPr>
            </a:pPr>
            <a:r>
              <a:t>SYSTEM ARCHITECTURE &amp; DATA FLOW</a:t>
            </a:r>
          </a:p>
          <a:p>
            <a:pPr>
              <a:defRPr sz="1200">
                <a:solidFill>
                  <a:srgbClr val="1A1613"/>
                </a:solidFill>
              </a:defRPr>
            </a:pPr>
            <a:r>
              <a:t>[Client: React 18 Browser]</a:t>
            </a:r>
            <a:br/>
            <a:r>
              <a:t>   ↓  1. POST /api/generate-itinerary (Parameters: days, budget, interests)</a:t>
            </a:r>
            <a:br/>
            <a:r>
              <a:t>[Backend: FastAPI on Render]</a:t>
            </a:r>
            <a:br/>
            <a:r>
              <a:t>   ↓  2. Enriches with 500-Line Karnataka Knowledge Base</a:t>
            </a:r>
            <a:br/>
            <a:r>
              <a:t>[AI Core: Google Gemini 3 Flash]</a:t>
            </a:r>
            <a:br/>
            <a:r>
              <a:t>   ↓  3. Generates Structured JSON (Day Plan, Stays, Places, Dishes)</a:t>
            </a:r>
            <a:br/>
            <a:r>
              <a:t>[Backend: Validation &amp; Sanitization Engine]</a:t>
            </a:r>
            <a:br/>
            <a:r>
              <a:t>   ↓  4. Returns Schema-Conformant Response</a:t>
            </a:r>
            <a:br/>
            <a:r>
              <a:t>[Client UI: Responsive 2-Column Dashboard]</a:t>
            </a:r>
            <a:br/>
            <a:r>
              <a:t>   • Renders Vector Transit Map &amp; Landmark Photos</a:t>
            </a:r>
            <a:br/>
            <a:r>
              <a:t>   • Displays Dynamic Budget Donut &amp; Kannada Phrasebook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109728"/>
          </a:xfrm>
          <a:prstGeom prst="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609539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390" y="6784848"/>
            <a:ext cx="6096304" cy="73152"/>
          </a:xfrm>
          <a:prstGeom prst="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47472"/>
            <a:ext cx="4389120" cy="320040"/>
          </a:xfrm>
          <a:prstGeom prst="round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 b="1">
                <a:solidFill>
                  <a:srgbClr val="1A1613"/>
                </a:solidFill>
              </a:defRPr>
            </a:pPr>
            <a:r>
              <a:t>★  KANNADA HACKATHON · PROBLEM STATEMENT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C8102E"/>
                </a:solidFill>
              </a:defRPr>
            </a:pPr>
            <a:r>
              <a:t>Production Features: Live Platform Showcase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C8102E"/>
                </a:solidFill>
              </a:defRPr>
            </a:pPr>
            <a:r>
              <a:t>📍 Interactive Route Map</a:t>
            </a:r>
          </a:p>
          <a:p>
            <a:pPr>
              <a:defRPr sz="1100">
                <a:solidFill>
                  <a:srgbClr val="5F5A55"/>
                </a:solidFill>
              </a:defRPr>
            </a:pPr>
            <a:r>
              <a:t>Clickable SVG Karnataka corridor connecting transit waypoints. Clicking any node instantly updates high-res landmark photography and district overviews.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5A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F5AF0F"/>
                </a:solidFill>
              </a:defRPr>
            </a:pPr>
            <a:r>
              <a:t>🏨 Stay &amp; Dining Dossier</a:t>
            </a:r>
          </a:p>
          <a:p>
            <a:pPr>
              <a:defRPr sz="1100">
                <a:solidFill>
                  <a:srgbClr val="5F5A55"/>
                </a:solidFill>
              </a:defRPr>
            </a:pPr>
            <a:r>
              <a:t>Every day includes recommended hotel/homestay names with exact area &amp; nightly pricing, paired with must-order local dishes (e.g. Coorg Pandi Curry, Mangaluru Kori Rotti).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C8102E"/>
                </a:solidFill>
              </a:defRPr>
            </a:pPr>
            <a:r>
              <a:t>💰 Dynamic Budget Donut</a:t>
            </a:r>
          </a:p>
          <a:p>
            <a:pPr>
              <a:defRPr sz="1100">
                <a:solidFill>
                  <a:srgbClr val="5F5A55"/>
                </a:solidFill>
              </a:defRPr>
            </a:pPr>
            <a:r>
              <a:t>SVG breakdown dividing trip expenditure across Homestays (40%), Dining (25%), Transit (20%), and Entry fees (15%), with live tier switching.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5A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F5AF0F"/>
                </a:solidFill>
              </a:defRPr>
            </a:pPr>
            <a:r>
              <a:t>🗣️ Local Kannada Companion</a:t>
            </a:r>
          </a:p>
          <a:p>
            <a:pPr>
              <a:defRPr sz="1100">
                <a:solidFill>
                  <a:srgbClr val="5F5A55"/>
                </a:solidFill>
              </a:defRPr>
            </a:pPr>
            <a:r>
              <a:t>Empowers travelers with conversational Kannada phrases, phonetic pronunciation, one-click clipboard copy, and temple etiquette guidelines.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C8102E"/>
                </a:solidFill>
              </a:defRPr>
            </a:pPr>
            <a:r>
              <a:t>🖨️ 1-Click Offline PDF Export</a:t>
            </a:r>
          </a:p>
          <a:p>
            <a:pPr>
              <a:defRPr sz="1100">
                <a:solidFill>
                  <a:srgbClr val="5F5A55"/>
                </a:solidFill>
              </a:defRPr>
            </a:pPr>
            <a:r>
              <a:t>Full day-by-day itinerary printable directly to PDF for offline navigation through zero-network Western Ghats forest zones.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5A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F5AF0F"/>
                </a:solidFill>
              </a:defRPr>
            </a:pPr>
            <a:r>
              <a:t>📱 100% Mobile Responsive</a:t>
            </a:r>
          </a:p>
          <a:p>
            <a:pPr>
              <a:defRPr sz="1100">
                <a:solidFill>
                  <a:srgbClr val="5F5A55"/>
                </a:solidFill>
              </a:defRPr>
            </a:pPr>
            <a:r>
              <a:t>Fluid responsive layout that expands to a 2-column dashboard on desktop and smoothly collapses to single-column scroll on mobile.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109728"/>
          </a:xfrm>
          <a:prstGeom prst="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609539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390" y="6784848"/>
            <a:ext cx="6096304" cy="73152"/>
          </a:xfrm>
          <a:prstGeom prst="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47472"/>
            <a:ext cx="4389120" cy="320040"/>
          </a:xfrm>
          <a:prstGeom prst="roundRect">
            <a:avLst/>
          </a:prstGeom>
          <a:solidFill>
            <a:srgbClr val="F5A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 b="1">
                <a:solidFill>
                  <a:srgbClr val="1A1613"/>
                </a:solidFill>
              </a:defRPr>
            </a:pPr>
            <a:r>
              <a:t>★  KANNADA HACKATHON · PROBLEM STATEMENT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C8102E"/>
                </a:solidFill>
              </a:defRPr>
            </a:pPr>
            <a:r>
              <a:t>Conclusion, Impact &amp; Future Horizons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200"/>
              </a:spcAft>
              <a:defRPr sz="1500" b="1">
                <a:solidFill>
                  <a:srgbClr val="C8102E"/>
                </a:solidFill>
              </a:defRPr>
            </a:pPr>
            <a:r>
              <a:t>SOLUTION SUMMARY &amp; IMPACT</a:t>
            </a:r>
          </a:p>
          <a:p>
            <a:pPr>
              <a:defRPr sz="1200">
                <a:solidFill>
                  <a:srgbClr val="1A1613"/>
                </a:solidFill>
              </a:defRPr>
            </a:pPr>
            <a:r>
              <a:t>• Bridges the Gap in Travel AI:</a:t>
            </a:r>
            <a:br/>
            <a:r>
              <a:t>  Transforms generic AI travel advice into a grounded, hyper-local Karnataka itinerary engine.</a:t>
            </a:r>
            <a:br/>
            <a:br/>
            <a:r>
              <a:t>• Promotes Local Cultural Economy:</a:t>
            </a:r>
            <a:br/>
            <a:r>
              <a:t>  Highlights authentic local eateries, homestays, and lesser-known ASI heritage structures beyond standard tourist hotspots.</a:t>
            </a:r>
            <a:br/>
            <a:br/>
            <a:r>
              <a:t>• Enhances Traveler Safety:</a:t>
            </a:r>
            <a:br/>
            <a:r>
              <a:t>  Provides preventative seasonal intelligence regarding monsoon road conditions and wildlife sanctuary transit restrictions.</a:t>
            </a:r>
            <a:br/>
            <a:br/>
            <a:r>
              <a:t>• Production Ready:</a:t>
            </a:r>
            <a:br/>
            <a:r>
              <a:t>  Fully deployed live on Vercel + Render with zero ongoing infrastructure costs.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200"/>
              </a:spcAft>
              <a:defRPr sz="1500" b="1">
                <a:solidFill>
                  <a:srgbClr val="C8102E"/>
                </a:solidFill>
              </a:defRPr>
            </a:pPr>
            <a:r>
              <a:t>FUTURE ROADMAP</a:t>
            </a:r>
          </a:p>
          <a:p>
            <a:pPr>
              <a:defRPr sz="1200">
                <a:solidFill>
                  <a:srgbClr val="1A1613"/>
                </a:solidFill>
              </a:defRPr>
            </a:pPr>
            <a:r>
              <a:t>1. Kannada Voice Narration (TTS):</a:t>
            </a:r>
            <a:br/>
            <a:r>
              <a:t>   Integration of voice playback for day plans and authentic audio pronunciation for native speakers.</a:t>
            </a:r>
            <a:br/>
            <a:br/>
            <a:r>
              <a:t>2. Direct KSRTC &amp; Railway Booking Links:</a:t>
            </a:r>
            <a:br/>
            <a:r>
              <a:t>   One-click deep integration with KSRTC Airavat buses and Vande Bharat train schedules.</a:t>
            </a:r>
            <a:br/>
            <a:br/>
            <a:r>
              <a:t>3. Crowdsourced Ghat Weather Updates:</a:t>
            </a:r>
            <a:br/>
            <a:r>
              <a:t>   Community-driven live condition reports for Shiradi Ghat, Charmadi Ghat, and Agumbe passes during monsoon.</a:t>
            </a:r>
            <a:br/>
            <a:br/>
            <a:r>
              <a:t>4. AR Heritage Walking Tours:</a:t>
            </a:r>
            <a:br/>
            <a:r>
              <a:t>   Augmented reality overlays for Hampi stone monuments and Hoysala temples.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7196</Words>
  <Application>WPS Presentation</Application>
  <PresentationFormat>On-screen Show (4:3)</PresentationFormat>
  <Paragraphs>127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HP</cp:lastModifiedBy>
  <cp:revision>2</cp:revision>
  <dcterms:created xsi:type="dcterms:W3CDTF">2013-01-27T09:14:00Z</dcterms:created>
  <dcterms:modified xsi:type="dcterms:W3CDTF">2026-10-19T18:12:47Z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1D15AF135DC64C2A8F738F59BAAC9EA4_12</vt:lpwstr>
  </property>
  <property fmtid="{D5CDD505-2E9C-101B-9397-08002B2CF9AE}" pid="3" name="KSOProductBuildVer">
    <vt:lpwstr>1033-12.1.0.29162</vt:lpwstr>
  </property>
</Properties>
</file>